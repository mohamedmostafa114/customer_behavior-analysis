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nton" charset="1" panose="00000500000000000000"/>
      <p:regular r:id="rId29"/>
    </p:embeddedFont>
    <p:embeddedFont>
      <p:font typeface="Glacial Indifference" charset="1" panose="00000000000000000000"/>
      <p:regular r:id="rId30"/>
    </p:embeddedFont>
    <p:embeddedFont>
      <p:font typeface="Glacial Indifference Bold" charset="1" panose="00000800000000000000"/>
      <p:regular r:id="rId31"/>
    </p:embeddedFont>
    <p:embeddedFont>
      <p:font typeface="Helvetica World" charset="1" panose="020B0500040000020004"/>
      <p:regular r:id="rId32"/>
    </p:embeddedFont>
    <p:embeddedFont>
      <p:font typeface="Canva Sans" charset="1" panose="020B05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https://github.com/MohamedMostafa114/customer_behavior-analysis" TargetMode="External" Type="http://schemas.openxmlformats.org/officeDocument/2006/relationships/hyperlink"/><Relationship Id="rId8" Target="https://github.com/MohamedMostafa114/customer_behavior-analysis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69912" y="1176570"/>
            <a:ext cx="3393030" cy="3368354"/>
          </a:xfrm>
          <a:custGeom>
            <a:avLst/>
            <a:gdLst/>
            <a:ahLst/>
            <a:cxnLst/>
            <a:rect r="r" b="b" t="t" l="l"/>
            <a:pathLst>
              <a:path h="3368354" w="3393030">
                <a:moveTo>
                  <a:pt x="0" y="0"/>
                </a:moveTo>
                <a:lnTo>
                  <a:pt x="3393030" y="0"/>
                </a:lnTo>
                <a:lnTo>
                  <a:pt x="3393030" y="3368354"/>
                </a:lnTo>
                <a:lnTo>
                  <a:pt x="0" y="3368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6622" y="7592423"/>
            <a:ext cx="2207184" cy="2207184"/>
          </a:xfrm>
          <a:custGeom>
            <a:avLst/>
            <a:gdLst/>
            <a:ahLst/>
            <a:cxnLst/>
            <a:rect r="r" b="b" t="t" l="l"/>
            <a:pathLst>
              <a:path h="2207184" w="2207184">
                <a:moveTo>
                  <a:pt x="0" y="0"/>
                </a:moveTo>
                <a:lnTo>
                  <a:pt x="2207184" y="0"/>
                </a:lnTo>
                <a:lnTo>
                  <a:pt x="2207184" y="2207183"/>
                </a:lnTo>
                <a:lnTo>
                  <a:pt x="0" y="22071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39100" y="4862814"/>
            <a:ext cx="16230600" cy="4395486"/>
            <a:chOff x="0" y="0"/>
            <a:chExt cx="2514545" cy="6809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14545" cy="680976"/>
            </a:xfrm>
            <a:custGeom>
              <a:avLst/>
              <a:gdLst/>
              <a:ahLst/>
              <a:cxnLst/>
              <a:rect r="r" b="b" t="t" l="l"/>
              <a:pathLst>
                <a:path h="680976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680976"/>
                  </a:lnTo>
                  <a:lnTo>
                    <a:pt x="0" y="680976"/>
                  </a:lnTo>
                  <a:close/>
                </a:path>
              </a:pathLst>
            </a:custGeom>
            <a:blipFill>
              <a:blip r:embed="rId6"/>
              <a:stretch>
                <a:fillRect l="0" t="-73197" r="0" b="-7319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39100" y="828675"/>
            <a:ext cx="10576630" cy="371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64"/>
              </a:lnSpc>
              <a:spcBef>
                <a:spcPct val="0"/>
              </a:spcBef>
            </a:pPr>
            <a:r>
              <a:rPr lang="en-US" sz="10688">
                <a:solidFill>
                  <a:srgbClr val="112C16"/>
                </a:solidFill>
                <a:latin typeface="Anton"/>
                <a:ea typeface="Anton"/>
                <a:cs typeface="Anton"/>
                <a:sym typeface="Anton"/>
                <a:hlinkClick r:id="rId7" tooltip="https://github.com/MohamedMostafa114/customer_behavior-analysis"/>
              </a:rPr>
              <a:t>customer beh</a:t>
            </a:r>
            <a:r>
              <a:rPr lang="en-US" sz="10688">
                <a:solidFill>
                  <a:srgbClr val="112C16"/>
                </a:solidFill>
                <a:latin typeface="Anton"/>
                <a:ea typeface="Anton"/>
                <a:cs typeface="Anton"/>
                <a:sym typeface="Anton"/>
                <a:hlinkClick r:id="rId8" tooltip="https://github.com/MohamedMostafa114/customer_behavior-analysis"/>
              </a:rPr>
              <a:t>avior analysis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485922" y="4544924"/>
            <a:ext cx="2207184" cy="2207184"/>
          </a:xfrm>
          <a:custGeom>
            <a:avLst/>
            <a:gdLst/>
            <a:ahLst/>
            <a:cxnLst/>
            <a:rect r="r" b="b" t="t" l="l"/>
            <a:pathLst>
              <a:path h="2207184" w="2207184">
                <a:moveTo>
                  <a:pt x="0" y="0"/>
                </a:moveTo>
                <a:lnTo>
                  <a:pt x="2207184" y="0"/>
                </a:lnTo>
                <a:lnTo>
                  <a:pt x="2207184" y="2207184"/>
                </a:lnTo>
                <a:lnTo>
                  <a:pt x="0" y="2207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486622" y="0"/>
            <a:ext cx="2207184" cy="2207184"/>
          </a:xfrm>
          <a:custGeom>
            <a:avLst/>
            <a:gdLst/>
            <a:ahLst/>
            <a:cxnLst/>
            <a:rect r="r" b="b" t="t" l="l"/>
            <a:pathLst>
              <a:path h="2207184" w="2207184">
                <a:moveTo>
                  <a:pt x="0" y="0"/>
                </a:moveTo>
                <a:lnTo>
                  <a:pt x="2207184" y="0"/>
                </a:lnTo>
                <a:lnTo>
                  <a:pt x="2207184" y="2207184"/>
                </a:lnTo>
                <a:lnTo>
                  <a:pt x="0" y="2207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583665"/>
            <a:chOff x="0" y="0"/>
            <a:chExt cx="4274726" cy="4170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417097"/>
            </a:xfrm>
            <a:custGeom>
              <a:avLst/>
              <a:gdLst/>
              <a:ahLst/>
              <a:cxnLst/>
              <a:rect r="r" b="b" t="t" l="l"/>
              <a:pathLst>
                <a:path h="417097" w="427472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369397"/>
                  </a:lnTo>
                  <a:cubicBezTo>
                    <a:pt x="4274726" y="382048"/>
                    <a:pt x="4269700" y="394181"/>
                    <a:pt x="4260755" y="403126"/>
                  </a:cubicBezTo>
                  <a:cubicBezTo>
                    <a:pt x="4251809" y="412071"/>
                    <a:pt x="4239677" y="417097"/>
                    <a:pt x="4227026" y="417097"/>
                  </a:cubicBezTo>
                  <a:lnTo>
                    <a:pt x="47700" y="417097"/>
                  </a:lnTo>
                  <a:cubicBezTo>
                    <a:pt x="35049" y="417097"/>
                    <a:pt x="22916" y="412071"/>
                    <a:pt x="13971" y="403126"/>
                  </a:cubicBezTo>
                  <a:cubicBezTo>
                    <a:pt x="5025" y="394181"/>
                    <a:pt x="0" y="382048"/>
                    <a:pt x="0" y="369397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112C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455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5464923" y="1155086"/>
            <a:ext cx="897156" cy="1330892"/>
          </a:xfrm>
          <a:custGeom>
            <a:avLst/>
            <a:gdLst/>
            <a:ahLst/>
            <a:cxnLst/>
            <a:rect r="r" b="b" t="t" l="l"/>
            <a:pathLst>
              <a:path h="1330892" w="897156">
                <a:moveTo>
                  <a:pt x="0" y="0"/>
                </a:moveTo>
                <a:lnTo>
                  <a:pt x="897157" y="0"/>
                </a:lnTo>
                <a:lnTo>
                  <a:pt x="897157" y="1330892"/>
                </a:lnTo>
                <a:lnTo>
                  <a:pt x="0" y="133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42405" y="828675"/>
            <a:ext cx="8920128" cy="171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Team Members 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5400000">
            <a:off x="1842858" y="1155086"/>
            <a:ext cx="897156" cy="1330892"/>
          </a:xfrm>
          <a:custGeom>
            <a:avLst/>
            <a:gdLst/>
            <a:ahLst/>
            <a:cxnLst/>
            <a:rect r="r" b="b" t="t" l="l"/>
            <a:pathLst>
              <a:path h="1330892" w="897156">
                <a:moveTo>
                  <a:pt x="897156" y="1330892"/>
                </a:moveTo>
                <a:lnTo>
                  <a:pt x="0" y="1330892"/>
                </a:lnTo>
                <a:lnTo>
                  <a:pt x="0" y="0"/>
                </a:lnTo>
                <a:lnTo>
                  <a:pt x="897156" y="0"/>
                </a:lnTo>
                <a:lnTo>
                  <a:pt x="897156" y="13308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52826" y="3454626"/>
            <a:ext cx="18440826" cy="4842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0"/>
              </a:lnSpc>
            </a:pPr>
            <a:r>
              <a:rPr lang="en-US" sz="5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5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ohamed Mostafa </a:t>
            </a:r>
          </a:p>
          <a:p>
            <a:pPr algn="ctr">
              <a:lnSpc>
                <a:spcPts val="7770"/>
              </a:lnSpc>
            </a:pPr>
            <a:r>
              <a:rPr lang="en-US" sz="5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Khaled Walid </a:t>
            </a:r>
          </a:p>
          <a:p>
            <a:pPr algn="ctr">
              <a:lnSpc>
                <a:spcPts val="7770"/>
              </a:lnSpc>
            </a:pPr>
            <a:r>
              <a:rPr lang="en-US" sz="5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Mayar Elshamy</a:t>
            </a:r>
          </a:p>
          <a:p>
            <a:pPr algn="ctr">
              <a:lnSpc>
                <a:spcPts val="7770"/>
              </a:lnSpc>
            </a:pPr>
            <a:r>
              <a:rPr lang="en-US" sz="5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5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shraket M</a:t>
            </a:r>
            <a:r>
              <a:rPr lang="en-US" sz="5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aher </a:t>
            </a:r>
          </a:p>
          <a:p>
            <a:pPr algn="ctr">
              <a:lnSpc>
                <a:spcPts val="777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6868"/>
            <a:ext cx="16230600" cy="1583665"/>
            <a:chOff x="0" y="0"/>
            <a:chExt cx="4274726" cy="4170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417097"/>
            </a:xfrm>
            <a:custGeom>
              <a:avLst/>
              <a:gdLst/>
              <a:ahLst/>
              <a:cxnLst/>
              <a:rect r="r" b="b" t="t" l="l"/>
              <a:pathLst>
                <a:path h="417097" w="427472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369397"/>
                  </a:lnTo>
                  <a:cubicBezTo>
                    <a:pt x="4274726" y="382048"/>
                    <a:pt x="4269700" y="394181"/>
                    <a:pt x="4260755" y="403126"/>
                  </a:cubicBezTo>
                  <a:cubicBezTo>
                    <a:pt x="4251809" y="412071"/>
                    <a:pt x="4239677" y="417097"/>
                    <a:pt x="4227026" y="417097"/>
                  </a:cubicBezTo>
                  <a:lnTo>
                    <a:pt x="47700" y="417097"/>
                  </a:lnTo>
                  <a:cubicBezTo>
                    <a:pt x="35049" y="417097"/>
                    <a:pt x="22916" y="412071"/>
                    <a:pt x="13971" y="403126"/>
                  </a:cubicBezTo>
                  <a:cubicBezTo>
                    <a:pt x="5025" y="394181"/>
                    <a:pt x="0" y="382048"/>
                    <a:pt x="0" y="369397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112C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455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5464923" y="1155086"/>
            <a:ext cx="897156" cy="1330892"/>
          </a:xfrm>
          <a:custGeom>
            <a:avLst/>
            <a:gdLst/>
            <a:ahLst/>
            <a:cxnLst/>
            <a:rect r="r" b="b" t="t" l="l"/>
            <a:pathLst>
              <a:path h="1330892" w="897156">
                <a:moveTo>
                  <a:pt x="0" y="0"/>
                </a:moveTo>
                <a:lnTo>
                  <a:pt x="897157" y="0"/>
                </a:lnTo>
                <a:lnTo>
                  <a:pt x="897157" y="1330892"/>
                </a:lnTo>
                <a:lnTo>
                  <a:pt x="0" y="133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42405" y="36843"/>
            <a:ext cx="8920128" cy="171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Agenda Slide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5400000">
            <a:off x="1842858" y="1155086"/>
            <a:ext cx="897156" cy="1330892"/>
          </a:xfrm>
          <a:custGeom>
            <a:avLst/>
            <a:gdLst/>
            <a:ahLst/>
            <a:cxnLst/>
            <a:rect r="r" b="b" t="t" l="l"/>
            <a:pathLst>
              <a:path h="1330892" w="897156">
                <a:moveTo>
                  <a:pt x="897156" y="1330892"/>
                </a:moveTo>
                <a:lnTo>
                  <a:pt x="0" y="1330892"/>
                </a:lnTo>
                <a:lnTo>
                  <a:pt x="0" y="0"/>
                </a:lnTo>
                <a:lnTo>
                  <a:pt x="897156" y="0"/>
                </a:lnTo>
                <a:lnTo>
                  <a:pt x="897156" y="13308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192910"/>
            <a:ext cx="12625734" cy="798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Introduction and Background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Project Aim and Project Objectives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System Architecture and Overall Architecture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Technology Stack and Database Design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Real-Time Data Pipeline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Apache Kafka  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Apache Spark Streaming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Customer Behavior Analysis   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Website Features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Real-Time Statistics  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Results &amp; Benefits     </a:t>
            </a:r>
          </a:p>
          <a:p>
            <a:pPr algn="l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094" y="543255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100000"/>
                  </a:srgbClr>
                </a:gs>
                <a:gs pos="50000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3138" y="3177456"/>
            <a:ext cx="4840119" cy="858022"/>
            <a:chOff x="0" y="0"/>
            <a:chExt cx="1274764" cy="2259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4764" cy="225981"/>
            </a:xfrm>
            <a:custGeom>
              <a:avLst/>
              <a:gdLst/>
              <a:ahLst/>
              <a:cxnLst/>
              <a:rect r="r" b="b" t="t" l="l"/>
              <a:pathLst>
                <a:path h="225981" w="1274764">
                  <a:moveTo>
                    <a:pt x="81576" y="0"/>
                  </a:moveTo>
                  <a:lnTo>
                    <a:pt x="1193188" y="0"/>
                  </a:lnTo>
                  <a:cubicBezTo>
                    <a:pt x="1238241" y="0"/>
                    <a:pt x="1274764" y="36523"/>
                    <a:pt x="1274764" y="81576"/>
                  </a:cubicBezTo>
                  <a:lnTo>
                    <a:pt x="1274764" y="144405"/>
                  </a:lnTo>
                  <a:cubicBezTo>
                    <a:pt x="1274764" y="166040"/>
                    <a:pt x="1266169" y="186790"/>
                    <a:pt x="1250871" y="202088"/>
                  </a:cubicBezTo>
                  <a:cubicBezTo>
                    <a:pt x="1235572" y="217387"/>
                    <a:pt x="1214823" y="225981"/>
                    <a:pt x="1193188" y="225981"/>
                  </a:cubicBezTo>
                  <a:lnTo>
                    <a:pt x="81576" y="225981"/>
                  </a:lnTo>
                  <a:cubicBezTo>
                    <a:pt x="36523" y="225981"/>
                    <a:pt x="0" y="189458"/>
                    <a:pt x="0" y="144405"/>
                  </a:cubicBezTo>
                  <a:lnTo>
                    <a:pt x="0" y="81576"/>
                  </a:lnTo>
                  <a:cubicBezTo>
                    <a:pt x="0" y="59941"/>
                    <a:pt x="8595" y="39192"/>
                    <a:pt x="23893" y="23893"/>
                  </a:cubicBezTo>
                  <a:cubicBezTo>
                    <a:pt x="39192" y="8595"/>
                    <a:pt x="59941" y="0"/>
                    <a:pt x="81576" y="0"/>
                  </a:cubicBezTo>
                  <a:close/>
                </a:path>
              </a:pathLst>
            </a:custGeom>
            <a:ln w="47625" cap="rnd">
              <a:solidFill>
                <a:srgbClr val="112C1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274764" cy="292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74737" y="5334178"/>
            <a:ext cx="4548045" cy="3737666"/>
          </a:xfrm>
          <a:custGeom>
            <a:avLst/>
            <a:gdLst/>
            <a:ahLst/>
            <a:cxnLst/>
            <a:rect r="r" b="b" t="t" l="l"/>
            <a:pathLst>
              <a:path h="3737666" w="4548045">
                <a:moveTo>
                  <a:pt x="0" y="0"/>
                </a:moveTo>
                <a:lnTo>
                  <a:pt x="4548045" y="0"/>
                </a:lnTo>
                <a:lnTo>
                  <a:pt x="4548045" y="3737666"/>
                </a:lnTo>
                <a:lnTo>
                  <a:pt x="0" y="3737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3651" y="541972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Introduction and Background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816" y="3247374"/>
            <a:ext cx="4222763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</a:t>
            </a:r>
            <a:r>
              <a:rPr lang="en-US" b="true" sz="41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4427" y="1896616"/>
            <a:ext cx="11412353" cy="869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112C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rapid growth of e-commerce platforms has generated massive volumes of customer interaction data every second. These interactions include product searches, product views, shopping cart activities, purchases, ratings, and recommendation clicks.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112C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Traditional analytics systems store this information for later analysis, making it difficult to respond to customer behavior in real time.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112C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Our project introduces a real-time customer behavior analytics platform that continuously captures, processes, and analyzes customer activities using Apache Kafka and Apache Spark Streaming. This enables instant business insights, personalized recommendations, and data-driven decision-making.</a:t>
            </a:r>
          </a:p>
          <a:p>
            <a:pPr algn="l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094" y="543255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100000"/>
                  </a:srgbClr>
                </a:gs>
                <a:gs pos="50000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2519" y="3089130"/>
            <a:ext cx="4840119" cy="858022"/>
            <a:chOff x="0" y="0"/>
            <a:chExt cx="1274764" cy="2259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4764" cy="225981"/>
            </a:xfrm>
            <a:custGeom>
              <a:avLst/>
              <a:gdLst/>
              <a:ahLst/>
              <a:cxnLst/>
              <a:rect r="r" b="b" t="t" l="l"/>
              <a:pathLst>
                <a:path h="225981" w="1274764">
                  <a:moveTo>
                    <a:pt x="81576" y="0"/>
                  </a:moveTo>
                  <a:lnTo>
                    <a:pt x="1193188" y="0"/>
                  </a:lnTo>
                  <a:cubicBezTo>
                    <a:pt x="1238241" y="0"/>
                    <a:pt x="1274764" y="36523"/>
                    <a:pt x="1274764" y="81576"/>
                  </a:cubicBezTo>
                  <a:lnTo>
                    <a:pt x="1274764" y="144405"/>
                  </a:lnTo>
                  <a:cubicBezTo>
                    <a:pt x="1274764" y="166040"/>
                    <a:pt x="1266169" y="186790"/>
                    <a:pt x="1250871" y="202088"/>
                  </a:cubicBezTo>
                  <a:cubicBezTo>
                    <a:pt x="1235572" y="217387"/>
                    <a:pt x="1214823" y="225981"/>
                    <a:pt x="1193188" y="225981"/>
                  </a:cubicBezTo>
                  <a:lnTo>
                    <a:pt x="81576" y="225981"/>
                  </a:lnTo>
                  <a:cubicBezTo>
                    <a:pt x="36523" y="225981"/>
                    <a:pt x="0" y="189458"/>
                    <a:pt x="0" y="144405"/>
                  </a:cubicBezTo>
                  <a:lnTo>
                    <a:pt x="0" y="81576"/>
                  </a:lnTo>
                  <a:cubicBezTo>
                    <a:pt x="0" y="59941"/>
                    <a:pt x="8595" y="39192"/>
                    <a:pt x="23893" y="23893"/>
                  </a:cubicBezTo>
                  <a:cubicBezTo>
                    <a:pt x="39192" y="8595"/>
                    <a:pt x="59941" y="0"/>
                    <a:pt x="81576" y="0"/>
                  </a:cubicBezTo>
                  <a:close/>
                </a:path>
              </a:pathLst>
            </a:custGeom>
            <a:ln w="47625" cap="rnd">
              <a:solidFill>
                <a:srgbClr val="112C1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274764" cy="292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74737" y="5334178"/>
            <a:ext cx="4548045" cy="3737666"/>
          </a:xfrm>
          <a:custGeom>
            <a:avLst/>
            <a:gdLst/>
            <a:ahLst/>
            <a:cxnLst/>
            <a:rect r="r" b="b" t="t" l="l"/>
            <a:pathLst>
              <a:path h="3737666" w="4548045">
                <a:moveTo>
                  <a:pt x="0" y="0"/>
                </a:moveTo>
                <a:lnTo>
                  <a:pt x="4548045" y="0"/>
                </a:lnTo>
                <a:lnTo>
                  <a:pt x="4548045" y="3737666"/>
                </a:lnTo>
                <a:lnTo>
                  <a:pt x="0" y="3737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3651" y="541972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Introduction and Background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1197" y="3120949"/>
            <a:ext cx="4222763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Backgr</a:t>
            </a:r>
            <a:r>
              <a:rPr lang="en-US" b="true" sz="41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20729" y="2561101"/>
            <a:ext cx="11979665" cy="669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3464">
                <a:solidFill>
                  <a:srgbClr val="112C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Modern companies such as Amazon and Netflix rely on event-driven architectures that process millions of user interactions every second.</a:t>
            </a:r>
          </a:p>
          <a:p>
            <a:pPr algn="l">
              <a:lnSpc>
                <a:spcPts val="4849"/>
              </a:lnSpc>
            </a:pPr>
            <a:r>
              <a:rPr lang="en-US" sz="3464">
                <a:solidFill>
                  <a:srgbClr val="112C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Instead of analyzing historical data only, </a:t>
            </a:r>
            <a:r>
              <a:rPr lang="en-US" sz="3464">
                <a:solidFill>
                  <a:srgbClr val="112C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real-time analytics enables businesses to:</a:t>
            </a:r>
          </a:p>
          <a:p>
            <a:pPr algn="l" marL="747904" indent="-373952" lvl="1">
              <a:lnSpc>
                <a:spcPts val="4849"/>
              </a:lnSpc>
              <a:buFont typeface="Arial"/>
              <a:buChar char="•"/>
            </a:pPr>
            <a:r>
              <a:rPr lang="en-US" sz="3464">
                <a:solidFill>
                  <a:srgbClr val="112C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 customer interests instantly</a:t>
            </a:r>
          </a:p>
          <a:p>
            <a:pPr algn="l" marL="747904" indent="-373952" lvl="1">
              <a:lnSpc>
                <a:spcPts val="4849"/>
              </a:lnSpc>
              <a:buFont typeface="Arial"/>
              <a:buChar char="•"/>
            </a:pPr>
            <a:r>
              <a:rPr lang="en-US" sz="3464">
                <a:solidFill>
                  <a:srgbClr val="112C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Improve recommendation quality</a:t>
            </a:r>
          </a:p>
          <a:p>
            <a:pPr algn="l" marL="747904" indent="-373952" lvl="1">
              <a:lnSpc>
                <a:spcPts val="4849"/>
              </a:lnSpc>
              <a:buFont typeface="Arial"/>
              <a:buChar char="•"/>
            </a:pPr>
            <a:r>
              <a:rPr lang="en-US" sz="3464">
                <a:solidFill>
                  <a:srgbClr val="112C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Monitor sales performance</a:t>
            </a:r>
          </a:p>
          <a:p>
            <a:pPr algn="l" marL="747904" indent="-373952" lvl="1">
              <a:lnSpc>
                <a:spcPts val="4849"/>
              </a:lnSpc>
              <a:buFont typeface="Arial"/>
              <a:buChar char="•"/>
            </a:pPr>
            <a:r>
              <a:rPr lang="en-US" sz="3464">
                <a:solidFill>
                  <a:srgbClr val="112C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Increase conversion rates</a:t>
            </a:r>
          </a:p>
          <a:p>
            <a:pPr algn="l" marL="747904" indent="-373952" lvl="1">
              <a:lnSpc>
                <a:spcPts val="4849"/>
              </a:lnSpc>
              <a:buFont typeface="Arial"/>
              <a:buChar char="•"/>
            </a:pPr>
            <a:r>
              <a:rPr lang="en-US" sz="3464">
                <a:solidFill>
                  <a:srgbClr val="112C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Make data-driven decisions</a:t>
            </a:r>
          </a:p>
          <a:p>
            <a:pPr algn="l">
              <a:lnSpc>
                <a:spcPts val="484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9688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100000"/>
                  </a:srgbClr>
                </a:gs>
                <a:gs pos="50000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323080"/>
            <a:ext cx="4734901" cy="761825"/>
            <a:chOff x="0" y="0"/>
            <a:chExt cx="1247052" cy="2006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7052" cy="200645"/>
            </a:xfrm>
            <a:custGeom>
              <a:avLst/>
              <a:gdLst/>
              <a:ahLst/>
              <a:cxnLst/>
              <a:rect r="r" b="b" t="t" l="l"/>
              <a:pathLst>
                <a:path h="200645" w="1247052">
                  <a:moveTo>
                    <a:pt x="83389" y="0"/>
                  </a:moveTo>
                  <a:lnTo>
                    <a:pt x="1163663" y="0"/>
                  </a:lnTo>
                  <a:cubicBezTo>
                    <a:pt x="1209718" y="0"/>
                    <a:pt x="1247052" y="37334"/>
                    <a:pt x="1247052" y="83389"/>
                  </a:cubicBezTo>
                  <a:lnTo>
                    <a:pt x="1247052" y="117257"/>
                  </a:lnTo>
                  <a:cubicBezTo>
                    <a:pt x="1247052" y="163311"/>
                    <a:pt x="1209718" y="200645"/>
                    <a:pt x="1163663" y="200645"/>
                  </a:cubicBezTo>
                  <a:lnTo>
                    <a:pt x="83389" y="200645"/>
                  </a:lnTo>
                  <a:cubicBezTo>
                    <a:pt x="37334" y="200645"/>
                    <a:pt x="0" y="163311"/>
                    <a:pt x="0" y="117257"/>
                  </a:cubicBezTo>
                  <a:lnTo>
                    <a:pt x="0" y="83389"/>
                  </a:lnTo>
                  <a:cubicBezTo>
                    <a:pt x="0" y="37334"/>
                    <a:pt x="37334" y="0"/>
                    <a:pt x="83389" y="0"/>
                  </a:cubicBezTo>
                  <a:close/>
                </a:path>
              </a:pathLst>
            </a:custGeom>
            <a:solidFill>
              <a:srgbClr val="112C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47052" cy="229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806386" y="5596214"/>
            <a:ext cx="2413088" cy="2413088"/>
          </a:xfrm>
          <a:custGeom>
            <a:avLst/>
            <a:gdLst/>
            <a:ahLst/>
            <a:cxnLst/>
            <a:rect r="r" b="b" t="t" l="l"/>
            <a:pathLst>
              <a:path h="2413088" w="2413088">
                <a:moveTo>
                  <a:pt x="0" y="0"/>
                </a:moveTo>
                <a:lnTo>
                  <a:pt x="2413088" y="0"/>
                </a:lnTo>
                <a:lnTo>
                  <a:pt x="2413088" y="2413088"/>
                </a:lnTo>
                <a:lnTo>
                  <a:pt x="0" y="2413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52756" y="2277698"/>
            <a:ext cx="2413088" cy="2413088"/>
          </a:xfrm>
          <a:custGeom>
            <a:avLst/>
            <a:gdLst/>
            <a:ahLst/>
            <a:cxnLst/>
            <a:rect r="r" b="b" t="t" l="l"/>
            <a:pathLst>
              <a:path h="2413088" w="2413088">
                <a:moveTo>
                  <a:pt x="0" y="0"/>
                </a:moveTo>
                <a:lnTo>
                  <a:pt x="2413088" y="0"/>
                </a:lnTo>
                <a:lnTo>
                  <a:pt x="2413088" y="2413088"/>
                </a:lnTo>
                <a:lnTo>
                  <a:pt x="0" y="2413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012930" y="2796568"/>
            <a:ext cx="5246370" cy="4902057"/>
            <a:chOff x="0" y="0"/>
            <a:chExt cx="812800" cy="7594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59457"/>
            </a:xfrm>
            <a:custGeom>
              <a:avLst/>
              <a:gdLst/>
              <a:ahLst/>
              <a:cxnLst/>
              <a:rect r="r" b="b" t="t" l="l"/>
              <a:pathLst>
                <a:path h="759457" w="812800">
                  <a:moveTo>
                    <a:pt x="44270" y="0"/>
                  </a:moveTo>
                  <a:lnTo>
                    <a:pt x="768530" y="0"/>
                  </a:lnTo>
                  <a:cubicBezTo>
                    <a:pt x="792980" y="0"/>
                    <a:pt x="812800" y="19820"/>
                    <a:pt x="812800" y="44270"/>
                  </a:cubicBezTo>
                  <a:lnTo>
                    <a:pt x="812800" y="715187"/>
                  </a:lnTo>
                  <a:cubicBezTo>
                    <a:pt x="812800" y="739637"/>
                    <a:pt x="792980" y="759457"/>
                    <a:pt x="768530" y="759457"/>
                  </a:cubicBezTo>
                  <a:lnTo>
                    <a:pt x="44270" y="759457"/>
                  </a:lnTo>
                  <a:cubicBezTo>
                    <a:pt x="32529" y="759457"/>
                    <a:pt x="21269" y="754793"/>
                    <a:pt x="12966" y="746491"/>
                  </a:cubicBezTo>
                  <a:cubicBezTo>
                    <a:pt x="4664" y="738188"/>
                    <a:pt x="0" y="726928"/>
                    <a:pt x="0" y="715187"/>
                  </a:cubicBezTo>
                  <a:lnTo>
                    <a:pt x="0" y="44270"/>
                  </a:lnTo>
                  <a:cubicBezTo>
                    <a:pt x="0" y="19820"/>
                    <a:pt x="19820" y="0"/>
                    <a:pt x="44270" y="0"/>
                  </a:cubicBezTo>
                  <a:close/>
                </a:path>
              </a:pathLst>
            </a:custGeom>
            <a:blipFill>
              <a:blip r:embed="rId4"/>
              <a:stretch>
                <a:fillRect l="-20014" t="0" r="-20014" b="0"/>
              </a:stretch>
            </a:blipFill>
            <a:ln w="38100" cap="rnd">
              <a:solidFill>
                <a:srgbClr val="112C16"/>
              </a:solidFill>
              <a:prstDash val="solid"/>
              <a:round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502759" y="218417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Projec</a:t>
            </a: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t Aim and Project Objectives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9175" y="1540462"/>
            <a:ext cx="508466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12C1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</a:t>
            </a:r>
            <a:r>
              <a:rPr lang="en-US" b="true" sz="3599">
                <a:solidFill>
                  <a:srgbClr val="112C1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oject Aim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5609" y="2080936"/>
            <a:ext cx="10345726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12C1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develop </a:t>
            </a:r>
            <a:r>
              <a:rPr lang="en-US" sz="2899">
                <a:solidFill>
                  <a:srgbClr val="112C1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scalable real-time customer behavior analytics platform capable of monitoring customer interactions, generating business intelligence, and providing personalized product recommendations through distributed stream processing.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06712" y="4371984"/>
            <a:ext cx="4656889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1F0E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</a:t>
            </a:r>
            <a:r>
              <a:rPr lang="en-US" b="true" sz="3299">
                <a:solidFill>
                  <a:srgbClr val="F1F0E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OJECT OBJECTIVES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2759" y="4967910"/>
            <a:ext cx="12190774" cy="535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5364"/>
              </a:lnSpc>
              <a:buAutoNum type="arabicPeriod" startAt="1"/>
            </a:pPr>
            <a:r>
              <a:rPr lang="en-US" sz="2899">
                <a:solidFill>
                  <a:srgbClr val="112C1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899">
                <a:solidFill>
                  <a:srgbClr val="112C1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evelop a complete e-commerce platform.</a:t>
            </a:r>
          </a:p>
          <a:p>
            <a:pPr algn="l" marL="626109" indent="-313054" lvl="1">
              <a:lnSpc>
                <a:spcPts val="5364"/>
              </a:lnSpc>
              <a:buAutoNum type="arabicPeriod" startAt="1"/>
            </a:pPr>
            <a:r>
              <a:rPr lang="en-US" sz="2899">
                <a:solidFill>
                  <a:srgbClr val="112C1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Design a normalized relational database.</a:t>
            </a:r>
          </a:p>
          <a:p>
            <a:pPr algn="l" marL="626109" indent="-313054" lvl="1">
              <a:lnSpc>
                <a:spcPts val="5364"/>
              </a:lnSpc>
              <a:buAutoNum type="arabicPeriod" startAt="1"/>
            </a:pPr>
            <a:r>
              <a:rPr lang="en-US" sz="2899">
                <a:solidFill>
                  <a:srgbClr val="112C1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Track customer interactions in real time.</a:t>
            </a:r>
          </a:p>
          <a:p>
            <a:pPr algn="l" marL="626109" indent="-313054" lvl="1">
              <a:lnSpc>
                <a:spcPts val="5364"/>
              </a:lnSpc>
              <a:buAutoNum type="arabicPeriod" startAt="1"/>
            </a:pPr>
            <a:r>
              <a:rPr lang="en-US" sz="2899">
                <a:solidFill>
                  <a:srgbClr val="112C1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Stream events using Apache Kafka.</a:t>
            </a:r>
          </a:p>
          <a:p>
            <a:pPr algn="l" marL="626109" indent="-313054" lvl="1">
              <a:lnSpc>
                <a:spcPts val="5364"/>
              </a:lnSpc>
              <a:buAutoNum type="arabicPeriod" startAt="1"/>
            </a:pPr>
            <a:r>
              <a:rPr lang="en-US" sz="2899">
                <a:solidFill>
                  <a:srgbClr val="112C1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Process streaming data using Apache Spark Streaming.</a:t>
            </a:r>
          </a:p>
          <a:p>
            <a:pPr algn="l" marL="626109" indent="-313054" lvl="1">
              <a:lnSpc>
                <a:spcPts val="5364"/>
              </a:lnSpc>
              <a:buAutoNum type="arabicPeriod" startAt="1"/>
            </a:pPr>
            <a:r>
              <a:rPr lang="en-US" sz="2899">
                <a:solidFill>
                  <a:srgbClr val="112C1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Store analytics results in SQL Server.</a:t>
            </a:r>
          </a:p>
          <a:p>
            <a:pPr algn="l" marL="626109" indent="-313054" lvl="1">
              <a:lnSpc>
                <a:spcPts val="5364"/>
              </a:lnSpc>
              <a:buAutoNum type="arabicPeriod" startAt="1"/>
            </a:pPr>
            <a:r>
              <a:rPr lang="en-US" sz="2899">
                <a:solidFill>
                  <a:srgbClr val="112C1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Build an interactive analytics dashboard.</a:t>
            </a:r>
          </a:p>
          <a:p>
            <a:pPr algn="l" marL="626109" indent="-313054" lvl="1">
              <a:lnSpc>
                <a:spcPts val="5364"/>
              </a:lnSpc>
              <a:buAutoNum type="arabicPeriod" startAt="1"/>
            </a:pPr>
            <a:r>
              <a:rPr lang="en-US" sz="2899">
                <a:solidFill>
                  <a:srgbClr val="112C1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Improve customer engagement and business decision making.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673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100000"/>
                  </a:srgbClr>
                </a:gs>
                <a:gs pos="50000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82109" y="1424646"/>
            <a:ext cx="5907753" cy="8814729"/>
          </a:xfrm>
          <a:custGeom>
            <a:avLst/>
            <a:gdLst/>
            <a:ahLst/>
            <a:cxnLst/>
            <a:rect r="r" b="b" t="t" l="l"/>
            <a:pathLst>
              <a:path h="8814729" w="5907753">
                <a:moveTo>
                  <a:pt x="0" y="0"/>
                </a:moveTo>
                <a:lnTo>
                  <a:pt x="5907753" y="0"/>
                </a:lnTo>
                <a:lnTo>
                  <a:pt x="5907753" y="8814729"/>
                </a:lnTo>
                <a:lnTo>
                  <a:pt x="0" y="8814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6" r="0" b="-26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02759" y="98403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Overall</a:t>
            </a: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 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48716" y="2573681"/>
            <a:ext cx="9867205" cy="64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4"/>
              </a:lnSpc>
              <a:spcBef>
                <a:spcPct val="0"/>
              </a:spcBef>
            </a:pPr>
            <a:r>
              <a:rPr lang="en-US" sz="36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website captures every customer interaction.</a:t>
            </a:r>
          </a:p>
          <a:p>
            <a:pPr algn="l">
              <a:lnSpc>
                <a:spcPts val="5164"/>
              </a:lnSpc>
              <a:spcBef>
                <a:spcPct val="0"/>
              </a:spcBef>
            </a:pPr>
            <a:r>
              <a:rPr lang="en-US" sz="36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Events are published to Kafka.</a:t>
            </a:r>
          </a:p>
          <a:p>
            <a:pPr algn="l">
              <a:lnSpc>
                <a:spcPts val="5164"/>
              </a:lnSpc>
              <a:spcBef>
                <a:spcPct val="0"/>
              </a:spcBef>
            </a:pPr>
            <a:r>
              <a:rPr lang="en-US" sz="36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Spark Streaming processes these events continuously.</a:t>
            </a:r>
          </a:p>
          <a:p>
            <a:pPr algn="l">
              <a:lnSpc>
                <a:spcPts val="5164"/>
              </a:lnSpc>
              <a:spcBef>
                <a:spcPct val="0"/>
              </a:spcBef>
            </a:pPr>
            <a:r>
              <a:rPr lang="en-US" sz="36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Analytics are stored in SQL Server.</a:t>
            </a:r>
          </a:p>
          <a:p>
            <a:pPr algn="l">
              <a:lnSpc>
                <a:spcPts val="5164"/>
              </a:lnSpc>
              <a:spcBef>
                <a:spcPct val="0"/>
              </a:spcBef>
            </a:pPr>
            <a:r>
              <a:rPr lang="en-US" sz="36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recommendation engine generates personalized suggestions.</a:t>
            </a:r>
          </a:p>
          <a:p>
            <a:pPr algn="l">
              <a:lnSpc>
                <a:spcPts val="5164"/>
              </a:lnSpc>
              <a:spcBef>
                <a:spcPct val="0"/>
              </a:spcBef>
            </a:pPr>
            <a:r>
              <a:rPr lang="en-US" sz="36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dashboard visualizes the analytics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75" y="125425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100000"/>
                  </a:srgbClr>
                </a:gs>
                <a:gs pos="50000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7196373"/>
            <a:ext cx="2593405" cy="2458405"/>
          </a:xfrm>
          <a:custGeom>
            <a:avLst/>
            <a:gdLst/>
            <a:ahLst/>
            <a:cxnLst/>
            <a:rect r="r" b="b" t="t" l="l"/>
            <a:pathLst>
              <a:path h="2458405" w="2593405">
                <a:moveTo>
                  <a:pt x="0" y="0"/>
                </a:moveTo>
                <a:lnTo>
                  <a:pt x="2593405" y="0"/>
                </a:lnTo>
                <a:lnTo>
                  <a:pt x="2593405" y="2458405"/>
                </a:lnTo>
                <a:lnTo>
                  <a:pt x="0" y="2458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26762" y="1436675"/>
            <a:ext cx="13218338" cy="8812225"/>
          </a:xfrm>
          <a:custGeom>
            <a:avLst/>
            <a:gdLst/>
            <a:ahLst/>
            <a:cxnLst/>
            <a:rect r="r" b="b" t="t" l="l"/>
            <a:pathLst>
              <a:path h="8812225" w="13218338">
                <a:moveTo>
                  <a:pt x="0" y="0"/>
                </a:moveTo>
                <a:lnTo>
                  <a:pt x="13218338" y="0"/>
                </a:lnTo>
                <a:lnTo>
                  <a:pt x="13218338" y="8812225"/>
                </a:lnTo>
                <a:lnTo>
                  <a:pt x="0" y="8812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3634" y="124155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Da</a:t>
            </a: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tabase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9127" y="2164313"/>
            <a:ext cx="4192550" cy="469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Entity-Relationship Diagram (ERD) for a customer behavior tracking system, designed to model user interactions, transactions, products, and shopping sessions in an e-commerce environment.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2609" y="287350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100000"/>
                  </a:srgbClr>
                </a:gs>
                <a:gs pos="50000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1149" y="1655750"/>
            <a:ext cx="15191619" cy="8538945"/>
          </a:xfrm>
          <a:custGeom>
            <a:avLst/>
            <a:gdLst/>
            <a:ahLst/>
            <a:cxnLst/>
            <a:rect r="r" b="b" t="t" l="l"/>
            <a:pathLst>
              <a:path h="8538945" w="15191619">
                <a:moveTo>
                  <a:pt x="0" y="0"/>
                </a:moveTo>
                <a:lnTo>
                  <a:pt x="15191620" y="0"/>
                </a:lnTo>
                <a:lnTo>
                  <a:pt x="15191620" y="8538944"/>
                </a:lnTo>
                <a:lnTo>
                  <a:pt x="0" y="8538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502" r="0" b="-110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6668" y="286080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Real-Time Data Pipeline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414" y="411175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100000"/>
                  </a:srgbClr>
                </a:gs>
                <a:gs pos="50000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692274"/>
            <a:ext cx="17259300" cy="859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Apache Kafka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Apache Kafka is a distributed event streaming platform responsible for collecting and transporting customer events reliably between the website and the analytics engine.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Why Kafka?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 Throughput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Fault Tolerance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Scalability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Low Latency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Distributed Architecture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Reliable Message Delivery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Kafka Responsibilities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Receive customer events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Store event streams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Publish events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Support multiple consumers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Ensure reliable processing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153347" y="3836178"/>
            <a:ext cx="6122007" cy="6122007"/>
          </a:xfrm>
          <a:custGeom>
            <a:avLst/>
            <a:gdLst/>
            <a:ahLst/>
            <a:cxnLst/>
            <a:rect r="r" b="b" t="t" l="l"/>
            <a:pathLst>
              <a:path h="6122007" w="6122007">
                <a:moveTo>
                  <a:pt x="0" y="0"/>
                </a:moveTo>
                <a:lnTo>
                  <a:pt x="6122007" y="0"/>
                </a:lnTo>
                <a:lnTo>
                  <a:pt x="6122007" y="6122007"/>
                </a:lnTo>
                <a:lnTo>
                  <a:pt x="0" y="6122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12473" y="409905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Apach</a:t>
            </a: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e Kafka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370" y="306400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100000"/>
                  </a:srgbClr>
                </a:gs>
                <a:gs pos="50000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7173" y="2607077"/>
            <a:ext cx="6922305" cy="4996646"/>
          </a:xfrm>
          <a:custGeom>
            <a:avLst/>
            <a:gdLst/>
            <a:ahLst/>
            <a:cxnLst/>
            <a:rect r="r" b="b" t="t" l="l"/>
            <a:pathLst>
              <a:path h="4996646" w="6922305">
                <a:moveTo>
                  <a:pt x="0" y="0"/>
                </a:moveTo>
                <a:lnTo>
                  <a:pt x="6922305" y="0"/>
                </a:lnTo>
                <a:lnTo>
                  <a:pt x="6922305" y="4996646"/>
                </a:lnTo>
                <a:lnTo>
                  <a:pt x="0" y="4996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7430" y="305130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Apache Sp</a:t>
            </a: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ark Streaming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29561" y="1716405"/>
            <a:ext cx="11048914" cy="8389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Apache Spark Streaming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Spark Streaming continuously consumes events from Kafka and transforms raw customer interactions into meaningful business insights.</a:t>
            </a:r>
          </a:p>
          <a:p>
            <a:pPr algn="l">
              <a:lnSpc>
                <a:spcPts val="5179"/>
              </a:lnSpc>
            </a:pPr>
            <a:r>
              <a:rPr lang="en-US" b="true" sz="36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Spark Performs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Event aggregation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Filtering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Session analytics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Customer behavior analysis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Sales analytics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Recommendation metrics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Conversion analysis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Trending products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Instead of waiting until the end of the day, Spark updates analytics every few seconds.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5897" y="268300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0"/>
                  </a:srgbClr>
                </a:gs>
                <a:gs pos="33333">
                  <a:srgbClr val="112C16">
                    <a:alpha val="100000"/>
                  </a:srgbClr>
                </a:gs>
                <a:gs pos="66667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68293" y="4026913"/>
            <a:ext cx="10891007" cy="5231387"/>
          </a:xfrm>
          <a:custGeom>
            <a:avLst/>
            <a:gdLst/>
            <a:ahLst/>
            <a:cxnLst/>
            <a:rect r="r" b="b" t="t" l="l"/>
            <a:pathLst>
              <a:path h="5231387" w="10891007">
                <a:moveTo>
                  <a:pt x="0" y="0"/>
                </a:moveTo>
                <a:lnTo>
                  <a:pt x="10891007" y="0"/>
                </a:lnTo>
                <a:lnTo>
                  <a:pt x="10891007" y="5231387"/>
                </a:lnTo>
                <a:lnTo>
                  <a:pt x="0" y="5231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86748" y="267030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Cust</a:t>
            </a: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omer Behavior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5897" y="2197807"/>
            <a:ext cx="11455679" cy="579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8"/>
              </a:lnSpc>
              <a:spcBef>
                <a:spcPct val="0"/>
              </a:spcBef>
            </a:pPr>
            <a:r>
              <a:rPr lang="en-US" b="true" sz="487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Customer Behavior Tracking</a:t>
            </a:r>
          </a:p>
          <a:p>
            <a:pPr algn="l">
              <a:lnSpc>
                <a:spcPts val="5941"/>
              </a:lnSpc>
              <a:spcBef>
                <a:spcPct val="0"/>
              </a:spcBef>
            </a:pPr>
            <a:r>
              <a:rPr lang="en-US" sz="424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system continuously tracks:</a:t>
            </a:r>
          </a:p>
          <a:p>
            <a:pPr algn="l" marL="645827" indent="-322913" lvl="1">
              <a:lnSpc>
                <a:spcPts val="4187"/>
              </a:lnSpc>
              <a:buFont typeface="Arial"/>
              <a:buChar char="•"/>
            </a:pPr>
            <a:r>
              <a:rPr lang="en-US" sz="29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Product Views</a:t>
            </a:r>
          </a:p>
          <a:p>
            <a:pPr algn="l" marL="645827" indent="-322913" lvl="1">
              <a:lnSpc>
                <a:spcPts val="4187"/>
              </a:lnSpc>
              <a:buFont typeface="Arial"/>
              <a:buChar char="•"/>
            </a:pPr>
            <a:r>
              <a:rPr lang="en-US" sz="29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Product Searches</a:t>
            </a:r>
          </a:p>
          <a:p>
            <a:pPr algn="l" marL="645827" indent="-322913" lvl="1">
              <a:lnSpc>
                <a:spcPts val="4187"/>
              </a:lnSpc>
              <a:buFont typeface="Arial"/>
              <a:buChar char="•"/>
            </a:pPr>
            <a:r>
              <a:rPr lang="en-US" sz="29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Purchases</a:t>
            </a:r>
          </a:p>
          <a:p>
            <a:pPr algn="l" marL="645827" indent="-322913" lvl="1">
              <a:lnSpc>
                <a:spcPts val="4187"/>
              </a:lnSpc>
              <a:buFont typeface="Arial"/>
              <a:buChar char="•"/>
            </a:pPr>
            <a:r>
              <a:rPr lang="en-US" sz="29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Wishlist</a:t>
            </a:r>
          </a:p>
          <a:p>
            <a:pPr algn="l" marL="645827" indent="-322913" lvl="1">
              <a:lnSpc>
                <a:spcPts val="4187"/>
              </a:lnSpc>
              <a:buFont typeface="Arial"/>
              <a:buChar char="•"/>
            </a:pPr>
            <a:r>
              <a:rPr lang="en-US" sz="29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Cart Activities</a:t>
            </a:r>
          </a:p>
          <a:p>
            <a:pPr algn="l" marL="645827" indent="-322913" lvl="1">
              <a:lnSpc>
                <a:spcPts val="4187"/>
              </a:lnSpc>
              <a:buFont typeface="Arial"/>
              <a:buChar char="•"/>
            </a:pPr>
            <a:r>
              <a:rPr lang="en-US" sz="29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Ratings</a:t>
            </a:r>
          </a:p>
          <a:p>
            <a:pPr algn="l" marL="645827" indent="-322913" lvl="1">
              <a:lnSpc>
                <a:spcPts val="4187"/>
              </a:lnSpc>
              <a:buFont typeface="Arial"/>
              <a:buChar char="•"/>
            </a:pPr>
            <a:r>
              <a:rPr lang="en-US" sz="29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Recommendation Clicks</a:t>
            </a:r>
          </a:p>
          <a:p>
            <a:pPr algn="l" marL="645827" indent="-322913" lvl="1">
              <a:lnSpc>
                <a:spcPts val="4187"/>
              </a:lnSpc>
              <a:buFont typeface="Arial"/>
              <a:buChar char="•"/>
            </a:pPr>
            <a:r>
              <a:rPr lang="en-US" sz="29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Session Duration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800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0"/>
                  </a:srgbClr>
                </a:gs>
                <a:gs pos="33333">
                  <a:srgbClr val="112C16">
                    <a:alpha val="100000"/>
                  </a:srgbClr>
                </a:gs>
                <a:gs pos="66667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61745"/>
            <a:ext cx="12426279" cy="940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Frontend Technologies</a:t>
            </a:r>
          </a:p>
          <a:p>
            <a:pPr algn="l" marL="669286" indent="-334643" lvl="1">
              <a:lnSpc>
                <a:spcPts val="4339"/>
              </a:lnSpc>
              <a:buAutoNum type="arabicPeriod" startAt="1"/>
            </a:pPr>
            <a:r>
              <a:rPr lang="en-US" b="true" sz="30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Next.js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Built the web application's user interface.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Supports server-side rendering for improved performance and SEO.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Provides fast page loading and efficient routing.</a:t>
            </a:r>
          </a:p>
          <a:p>
            <a:pPr algn="l" marL="669286" indent="-334643" lvl="1">
              <a:lnSpc>
                <a:spcPts val="4339"/>
              </a:lnSpc>
              <a:buAutoNum type="arabicPeriod" startAt="1"/>
            </a:pPr>
            <a:r>
              <a:rPr lang="en-US" b="true" sz="30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React.js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Developed reusable and interactive UI components.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Enables dynamic updates without reloading the page.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Improves user experience through a responsive interface.</a:t>
            </a:r>
          </a:p>
          <a:p>
            <a:pPr algn="l" marL="669286" indent="-334643" lvl="1">
              <a:lnSpc>
                <a:spcPts val="4339"/>
              </a:lnSpc>
              <a:buAutoNum type="arabicPeriod" startAt="1"/>
            </a:pPr>
            <a:r>
              <a:rPr lang="en-US" b="true" sz="30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TypeScript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Adds static typing to JavaScript.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Reduces development errors.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Improves code maintainability and scalability.</a:t>
            </a:r>
          </a:p>
          <a:p>
            <a:pPr algn="l" marL="669286" indent="-334643" lvl="1">
              <a:lnSpc>
                <a:spcPts val="4339"/>
              </a:lnSpc>
              <a:buAutoNum type="arabicPeriod" startAt="1"/>
            </a:pPr>
            <a:r>
              <a:rPr lang="en-US" b="true" sz="30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Tailwind CSS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Creates a modern and responsive user interface.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Simplifies styling with utility-first CSS classes.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Ensures consistent design across all pages.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514436" y="5143500"/>
            <a:ext cx="5232725" cy="4462088"/>
          </a:xfrm>
          <a:custGeom>
            <a:avLst/>
            <a:gdLst/>
            <a:ahLst/>
            <a:cxnLst/>
            <a:rect r="r" b="b" t="t" l="l"/>
            <a:pathLst>
              <a:path h="4462088" w="5232725">
                <a:moveTo>
                  <a:pt x="0" y="0"/>
                </a:moveTo>
                <a:lnTo>
                  <a:pt x="5232725" y="0"/>
                </a:lnTo>
                <a:lnTo>
                  <a:pt x="5232725" y="4462088"/>
                </a:lnTo>
                <a:lnTo>
                  <a:pt x="0" y="4462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9551" y="76530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website  Technology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63525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0"/>
                  </a:srgbClr>
                </a:gs>
                <a:gs pos="33333">
                  <a:srgbClr val="112C16">
                    <a:alpha val="100000"/>
                  </a:srgbClr>
                </a:gs>
                <a:gs pos="66667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16306" y="1599492"/>
            <a:ext cx="12426279" cy="746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Back</a:t>
            </a:r>
            <a:r>
              <a:rPr lang="en-US" b="true" sz="37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end Technologies</a:t>
            </a:r>
          </a:p>
          <a:p>
            <a:pPr algn="l" marL="777234" indent="-388617" lvl="1">
              <a:lnSpc>
                <a:spcPts val="5039"/>
              </a:lnSpc>
              <a:buAutoNum type="arabicPeriod" startAt="1"/>
            </a:pPr>
            <a:r>
              <a:rPr lang="en-US" b="true" sz="35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Node.js</a:t>
            </a:r>
          </a:p>
          <a:p>
            <a:pPr algn="l" marL="777234" indent="-388617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</a:t>
            </a: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andles server-side logic and API requests.</a:t>
            </a:r>
          </a:p>
          <a:p>
            <a:pPr algn="l" marL="777234" indent="-388617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Provides high perform</a:t>
            </a: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anc</a:t>
            </a: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using asynchronous programming.</a:t>
            </a:r>
          </a:p>
          <a:p>
            <a:pPr algn="l" marL="777234" indent="-388617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Supports multiple concurrent client connections.</a:t>
            </a:r>
          </a:p>
          <a:p>
            <a:pPr algn="l" marL="777234" indent="-388617" lvl="1">
              <a:lnSpc>
                <a:spcPts val="5039"/>
              </a:lnSpc>
              <a:buAutoNum type="arabicPeriod" startAt="1"/>
            </a:pPr>
            <a:r>
              <a:rPr lang="en-US" b="true" sz="35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</a:t>
            </a:r>
            <a:r>
              <a:rPr lang="en-US" b="true" sz="35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</a:t>
            </a:r>
            <a:r>
              <a:rPr lang="en-US" b="true" sz="35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ss.js</a:t>
            </a:r>
          </a:p>
          <a:p>
            <a:pPr algn="l" marL="777234" indent="-388617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Simplifies backend development.</a:t>
            </a:r>
          </a:p>
          <a:p>
            <a:pPr algn="l" marL="777234" indent="-388617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Builds RESTful APIs for communication bet</a:t>
            </a: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ween </a:t>
            </a: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frontend and database.</a:t>
            </a:r>
          </a:p>
          <a:p>
            <a:pPr algn="l" marL="777234" indent="-388617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Manages authentication, routing, and business logic.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42585" y="3117368"/>
            <a:ext cx="2639597" cy="2909376"/>
          </a:xfrm>
          <a:custGeom>
            <a:avLst/>
            <a:gdLst/>
            <a:ahLst/>
            <a:cxnLst/>
            <a:rect r="r" b="b" t="t" l="l"/>
            <a:pathLst>
              <a:path h="2909376" w="2639597">
                <a:moveTo>
                  <a:pt x="0" y="0"/>
                </a:moveTo>
                <a:lnTo>
                  <a:pt x="2639597" y="0"/>
                </a:lnTo>
                <a:lnTo>
                  <a:pt x="2639597" y="2909375"/>
                </a:lnTo>
                <a:lnTo>
                  <a:pt x="0" y="2909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9551" y="162255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website  Technology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5450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0"/>
                  </a:srgbClr>
                </a:gs>
                <a:gs pos="33333">
                  <a:srgbClr val="112C16">
                    <a:alpha val="100000"/>
                  </a:srgbClr>
                </a:gs>
                <a:gs pos="66667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5584" y="6065055"/>
            <a:ext cx="677836" cy="6778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0E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382548" y="4676317"/>
            <a:ext cx="8477912" cy="5408324"/>
          </a:xfrm>
          <a:custGeom>
            <a:avLst/>
            <a:gdLst/>
            <a:ahLst/>
            <a:cxnLst/>
            <a:rect r="r" b="b" t="t" l="l"/>
            <a:pathLst>
              <a:path h="5408324" w="8477912">
                <a:moveTo>
                  <a:pt x="0" y="0"/>
                </a:moveTo>
                <a:lnTo>
                  <a:pt x="8477911" y="0"/>
                </a:lnTo>
                <a:lnTo>
                  <a:pt x="8477911" y="5408324"/>
                </a:lnTo>
                <a:lnTo>
                  <a:pt x="0" y="540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068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1592" y="4705958"/>
            <a:ext cx="8709498" cy="5368092"/>
          </a:xfrm>
          <a:custGeom>
            <a:avLst/>
            <a:gdLst/>
            <a:ahLst/>
            <a:cxnLst/>
            <a:rect r="r" b="b" t="t" l="l"/>
            <a:pathLst>
              <a:path h="5368092" w="8709498">
                <a:moveTo>
                  <a:pt x="0" y="0"/>
                </a:moveTo>
                <a:lnTo>
                  <a:pt x="8709498" y="0"/>
                </a:lnTo>
                <a:lnTo>
                  <a:pt x="8709498" y="5368092"/>
                </a:lnTo>
                <a:lnTo>
                  <a:pt x="0" y="5368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878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99551" y="324180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W</a:t>
            </a: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ebsite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76536" y="3224591"/>
            <a:ext cx="3819819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1F0E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&amp; Automation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843377"/>
            <a:ext cx="9665613" cy="179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User Features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Secure user registration and login.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Session management for personalized experiences.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5450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0"/>
                  </a:srgbClr>
                </a:gs>
                <a:gs pos="33333">
                  <a:srgbClr val="112C16">
                    <a:alpha val="100000"/>
                  </a:srgbClr>
                </a:gs>
                <a:gs pos="66667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5584" y="6065055"/>
            <a:ext cx="677836" cy="6778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0E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534734" y="3523606"/>
            <a:ext cx="11350939" cy="5760732"/>
          </a:xfrm>
          <a:custGeom>
            <a:avLst/>
            <a:gdLst/>
            <a:ahLst/>
            <a:cxnLst/>
            <a:rect r="r" b="b" t="t" l="l"/>
            <a:pathLst>
              <a:path h="5760732" w="11350939">
                <a:moveTo>
                  <a:pt x="0" y="0"/>
                </a:moveTo>
                <a:lnTo>
                  <a:pt x="11350939" y="0"/>
                </a:lnTo>
                <a:lnTo>
                  <a:pt x="11350939" y="5760733"/>
                </a:lnTo>
                <a:lnTo>
                  <a:pt x="0" y="5760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91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99551" y="324180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W</a:t>
            </a: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ebsite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76536" y="3224591"/>
            <a:ext cx="3819819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1F0E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&amp; Automation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843377"/>
            <a:ext cx="6194528" cy="624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</a:t>
            </a: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roduct Catalog</a:t>
            </a:r>
          </a:p>
          <a:p>
            <a:pPr algn="l" marL="669286" indent="-334643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Browse products by category.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</a:t>
            </a: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ew detailed product information.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Search and filter products efficiently.</a:t>
            </a:r>
          </a:p>
          <a:p>
            <a:pPr algn="l">
              <a:lnSpc>
                <a:spcPts val="5459"/>
              </a:lnSpc>
            </a:pP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Shopping Cart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 or remove products.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Update quantities.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Calculate total order cost automatically.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6608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0"/>
                  </a:srgbClr>
                </a:gs>
                <a:gs pos="33333">
                  <a:srgbClr val="112C16">
                    <a:alpha val="100000"/>
                  </a:srgbClr>
                </a:gs>
                <a:gs pos="66667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5584" y="6065055"/>
            <a:ext cx="677836" cy="6778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0E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34501" y="1574058"/>
            <a:ext cx="9248758" cy="4247225"/>
          </a:xfrm>
          <a:custGeom>
            <a:avLst/>
            <a:gdLst/>
            <a:ahLst/>
            <a:cxnLst/>
            <a:rect r="r" b="b" t="t" l="l"/>
            <a:pathLst>
              <a:path h="4247225" w="9248758">
                <a:moveTo>
                  <a:pt x="0" y="0"/>
                </a:moveTo>
                <a:lnTo>
                  <a:pt x="9248758" y="0"/>
                </a:lnTo>
                <a:lnTo>
                  <a:pt x="9248758" y="4247225"/>
                </a:lnTo>
                <a:lnTo>
                  <a:pt x="0" y="4247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85" t="0" r="0" b="-422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34501" y="5940724"/>
            <a:ext cx="9248758" cy="4328845"/>
          </a:xfrm>
          <a:custGeom>
            <a:avLst/>
            <a:gdLst/>
            <a:ahLst/>
            <a:cxnLst/>
            <a:rect r="r" b="b" t="t" l="l"/>
            <a:pathLst>
              <a:path h="4328845" w="9248758">
                <a:moveTo>
                  <a:pt x="0" y="0"/>
                </a:moveTo>
                <a:lnTo>
                  <a:pt x="9248758" y="0"/>
                </a:lnTo>
                <a:lnTo>
                  <a:pt x="9248758" y="4328845"/>
                </a:lnTo>
                <a:lnTo>
                  <a:pt x="0" y="4328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37" r="0" b="-83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99551" y="185338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W</a:t>
            </a: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ebsite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76536" y="3224591"/>
            <a:ext cx="3819819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1F0E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&amp; Automation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0206" y="2148522"/>
            <a:ext cx="6194528" cy="591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Check</a:t>
            </a: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out System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Revie</a:t>
            </a: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 selected products.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Select payment method.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Complete purchases securely.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Updat</a:t>
            </a:r>
            <a:r>
              <a:rPr lang="en-US" sz="2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inventory automatically.</a:t>
            </a:r>
          </a:p>
          <a:p>
            <a:pPr algn="l">
              <a:lnSpc>
                <a:spcPts val="5459"/>
              </a:lnSpc>
            </a:pP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User Profile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Manage personal information.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View order history.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Manage s</a:t>
            </a:r>
            <a:r>
              <a:rPr lang="en-US" sz="2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hipping a</a:t>
            </a:r>
            <a:r>
              <a:rPr lang="en-US" sz="2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ddresses.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Track previous purchases.</a:t>
            </a:r>
          </a:p>
          <a:p>
            <a:pPr algn="l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5450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0"/>
                  </a:srgbClr>
                </a:gs>
                <a:gs pos="33333">
                  <a:srgbClr val="112C16">
                    <a:alpha val="100000"/>
                  </a:srgbClr>
                </a:gs>
                <a:gs pos="66667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5584" y="6065055"/>
            <a:ext cx="677836" cy="6778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0E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816143" y="6403973"/>
            <a:ext cx="10692122" cy="3482609"/>
          </a:xfrm>
          <a:custGeom>
            <a:avLst/>
            <a:gdLst/>
            <a:ahLst/>
            <a:cxnLst/>
            <a:rect r="r" b="b" t="t" l="l"/>
            <a:pathLst>
              <a:path h="3482609" w="10692122">
                <a:moveTo>
                  <a:pt x="0" y="0"/>
                </a:moveTo>
                <a:lnTo>
                  <a:pt x="10692121" y="0"/>
                </a:lnTo>
                <a:lnTo>
                  <a:pt x="10692121" y="3482609"/>
                </a:lnTo>
                <a:lnTo>
                  <a:pt x="0" y="3482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756586" y="2026353"/>
            <a:ext cx="10751678" cy="4038701"/>
          </a:xfrm>
          <a:custGeom>
            <a:avLst/>
            <a:gdLst/>
            <a:ahLst/>
            <a:cxnLst/>
            <a:rect r="r" b="b" t="t" l="l"/>
            <a:pathLst>
              <a:path h="4038701" w="10751678">
                <a:moveTo>
                  <a:pt x="0" y="0"/>
                </a:moveTo>
                <a:lnTo>
                  <a:pt x="10751678" y="0"/>
                </a:lnTo>
                <a:lnTo>
                  <a:pt x="10751678" y="4038702"/>
                </a:lnTo>
                <a:lnTo>
                  <a:pt x="0" y="4038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99551" y="324180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W</a:t>
            </a: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ebsite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76536" y="3224591"/>
            <a:ext cx="3819819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1F0E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&amp; Automation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1615" y="2584870"/>
            <a:ext cx="6194528" cy="625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</a:t>
            </a: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</a:t>
            </a: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</a:t>
            </a: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Features</a:t>
            </a:r>
          </a:p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</a:t>
            </a: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alytics Dashboard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</a:t>
            </a: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plays real-</a:t>
            </a: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</a:t>
            </a: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business KPIs such as: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Total Users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Reve</a:t>
            </a: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nue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Orders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Active Sessions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Conversion Rate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Average Session Duration</a:t>
            </a:r>
          </a:p>
          <a:p>
            <a:pPr algn="l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5450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0"/>
                  </a:srgbClr>
                </a:gs>
                <a:gs pos="33333">
                  <a:srgbClr val="112C16">
                    <a:alpha val="100000"/>
                  </a:srgbClr>
                </a:gs>
                <a:gs pos="66667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5584" y="6065055"/>
            <a:ext cx="677836" cy="6778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0E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76536" y="3224591"/>
            <a:ext cx="3819819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1F0E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&amp; Automation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1924" y="2184150"/>
            <a:ext cx="15037450" cy="731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346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346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Admin Panel Separation</a:t>
            </a:r>
          </a:p>
          <a:p>
            <a:pPr algn="l" marL="640175" indent="-320088" lvl="1">
              <a:lnSpc>
                <a:spcPts val="4151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Dedicated admin portal with enhanced security and role-based access.</a:t>
            </a:r>
          </a:p>
          <a:p>
            <a:pPr algn="l">
              <a:lnSpc>
                <a:spcPts val="4851"/>
              </a:lnSpc>
            </a:pPr>
            <a:r>
              <a:rPr lang="en-US" sz="346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346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 Smart Search</a:t>
            </a:r>
          </a:p>
          <a:p>
            <a:pPr algn="l" marL="640175" indent="-320088" lvl="1">
              <a:lnSpc>
                <a:spcPts val="4151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Natural language product search with intelligent recommendations.</a:t>
            </a:r>
          </a:p>
          <a:p>
            <a:pPr algn="l">
              <a:lnSpc>
                <a:spcPts val="4851"/>
              </a:lnSpc>
            </a:pPr>
            <a:r>
              <a:rPr lang="en-US" sz="346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AI Chatbot</a:t>
            </a:r>
          </a:p>
          <a:p>
            <a:pPr algn="l" marL="640175" indent="-320088" lvl="1">
              <a:lnSpc>
                <a:spcPts val="4151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24/7 virtual shopping assistant for customer support and product recommendations.</a:t>
            </a:r>
          </a:p>
          <a:p>
            <a:pPr algn="l">
              <a:lnSpc>
                <a:spcPts val="4851"/>
              </a:lnSpc>
            </a:pPr>
            <a:r>
              <a:rPr lang="en-US" sz="346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346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Mobile Application</a:t>
            </a:r>
          </a:p>
          <a:p>
            <a:pPr algn="l" marL="640175" indent="-320088" lvl="1">
              <a:lnSpc>
                <a:spcPts val="4151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Android and iOS app with synchronized user accounts.</a:t>
            </a:r>
          </a:p>
          <a:p>
            <a:pPr algn="l">
              <a:lnSpc>
                <a:spcPts val="4851"/>
              </a:lnSpc>
            </a:pPr>
            <a:r>
              <a:rPr lang="en-US" sz="346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346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Online Payment Integration</a:t>
            </a:r>
          </a:p>
          <a:p>
            <a:pPr algn="l" marL="640175" indent="-320088" lvl="1">
              <a:lnSpc>
                <a:spcPts val="4151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Support for secure payment gateways (Stripe, PayPal, Visa/Mastercard).</a:t>
            </a:r>
          </a:p>
          <a:p>
            <a:pPr algn="l">
              <a:lnSpc>
                <a:spcPts val="4851"/>
              </a:lnSpc>
            </a:pPr>
            <a:r>
              <a:rPr lang="en-US" sz="346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346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Advanced Analytics</a:t>
            </a:r>
          </a:p>
          <a:p>
            <a:pPr algn="l" marL="640175" indent="-320088" lvl="1">
              <a:lnSpc>
                <a:spcPts val="4151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AI-driven sales forecasting, customer behavior analysis, and business insights.</a:t>
            </a:r>
          </a:p>
          <a:p>
            <a:pPr algn="l">
              <a:lnSpc>
                <a:spcPts val="4151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986342" y="6742890"/>
            <a:ext cx="3892013" cy="3460354"/>
          </a:xfrm>
          <a:custGeom>
            <a:avLst/>
            <a:gdLst/>
            <a:ahLst/>
            <a:cxnLst/>
            <a:rect r="r" b="b" t="t" l="l"/>
            <a:pathLst>
              <a:path h="3460354" w="3892013">
                <a:moveTo>
                  <a:pt x="0" y="0"/>
                </a:moveTo>
                <a:lnTo>
                  <a:pt x="3892013" y="0"/>
                </a:lnTo>
                <a:lnTo>
                  <a:pt x="3892013" y="3460354"/>
                </a:lnTo>
                <a:lnTo>
                  <a:pt x="0" y="346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163272" y="1541450"/>
            <a:ext cx="3538153" cy="3666479"/>
          </a:xfrm>
          <a:custGeom>
            <a:avLst/>
            <a:gdLst/>
            <a:ahLst/>
            <a:cxnLst/>
            <a:rect r="r" b="b" t="t" l="l"/>
            <a:pathLst>
              <a:path h="3666479" w="3538153">
                <a:moveTo>
                  <a:pt x="0" y="0"/>
                </a:moveTo>
                <a:lnTo>
                  <a:pt x="3538153" y="0"/>
                </a:lnTo>
                <a:lnTo>
                  <a:pt x="3538153" y="3666479"/>
                </a:lnTo>
                <a:lnTo>
                  <a:pt x="0" y="36664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99551" y="324180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Future Enhancement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5450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0"/>
                  </a:srgbClr>
                </a:gs>
                <a:gs pos="33333">
                  <a:srgbClr val="112C16">
                    <a:alpha val="100000"/>
                  </a:srgbClr>
                </a:gs>
                <a:gs pos="66667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5584" y="6065055"/>
            <a:ext cx="677836" cy="6778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0E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76536" y="3224591"/>
            <a:ext cx="3819819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1F0E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&amp; Automation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6417" y="2200295"/>
            <a:ext cx="16815166" cy="687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5"/>
              </a:lnSpc>
              <a:spcBef>
                <a:spcPct val="0"/>
              </a:spcBef>
            </a:pPr>
            <a:r>
              <a:rPr lang="en-US" b="true" sz="4032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Warehouse Integrat</a:t>
            </a:r>
            <a:r>
              <a:rPr lang="en-US" b="true" sz="4032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ion</a:t>
            </a:r>
          </a:p>
          <a:p>
            <a:pPr algn="l">
              <a:lnSpc>
                <a:spcPts val="4487"/>
              </a:lnSpc>
              <a:spcBef>
                <a:spcPct val="0"/>
              </a:spcBef>
            </a:pP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</a:t>
            </a: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the platform scales, we plan to i</a:t>
            </a: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ntegr</a:t>
            </a: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ate a Data Warehouse to store historical customer behavior and business data. Unlike the operational SQL Server database, the </a:t>
            </a: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Warehouse will sup</a:t>
            </a: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port large-scale analytical queries and long-</a:t>
            </a: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term reporting.</a:t>
            </a:r>
          </a:p>
          <a:p>
            <a:pPr algn="l">
              <a:lnSpc>
                <a:spcPts val="5645"/>
              </a:lnSpc>
              <a:spcBef>
                <a:spcPct val="0"/>
              </a:spcBef>
            </a:pPr>
            <a:r>
              <a:rPr lang="en-US" b="true" sz="4032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Enhancements</a:t>
            </a:r>
          </a:p>
          <a:p>
            <a:pPr algn="l" marL="692022" indent="-346011" lvl="1">
              <a:lnSpc>
                <a:spcPts val="4487"/>
              </a:lnSpc>
              <a:buFont typeface="Arial"/>
              <a:buChar char="•"/>
            </a:pP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Integrat</a:t>
            </a: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a centralized Data Warehouse for historical data storage.</a:t>
            </a:r>
          </a:p>
          <a:p>
            <a:pPr algn="l" marL="692022" indent="-346011" lvl="1">
              <a:lnSpc>
                <a:spcPts val="4487"/>
              </a:lnSpc>
              <a:buFont typeface="Arial"/>
              <a:buChar char="•"/>
            </a:pP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 an E</a:t>
            </a: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TL (Extract, Transform, Load) process to transf</a:t>
            </a: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 data from SQL Server.</a:t>
            </a:r>
          </a:p>
          <a:p>
            <a:pPr algn="l" marL="692022" indent="-346011" lvl="1">
              <a:lnSpc>
                <a:spcPts val="4487"/>
              </a:lnSpc>
              <a:buFont typeface="Arial"/>
              <a:buChar char="•"/>
            </a:pP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nable advanced Business Intelligence (BI) and reporting.</a:t>
            </a:r>
          </a:p>
          <a:p>
            <a:pPr algn="l" marL="692022" indent="-346011" lvl="1">
              <a:lnSpc>
                <a:spcPts val="4487"/>
              </a:lnSpc>
              <a:buFont typeface="Arial"/>
              <a:buChar char="•"/>
            </a:pP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Support trend analysis and customer segmentation.</a:t>
            </a:r>
          </a:p>
          <a:p>
            <a:pPr algn="l" marL="692022" indent="-346011" lvl="1">
              <a:lnSpc>
                <a:spcPts val="4487"/>
              </a:lnSpc>
              <a:buFont typeface="Arial"/>
              <a:buChar char="•"/>
            </a:pP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 decision-making using historical analytics.</a:t>
            </a:r>
          </a:p>
          <a:p>
            <a:pPr algn="l" marL="692022" indent="-346011" lvl="1">
              <a:lnSpc>
                <a:spcPts val="4487"/>
              </a:lnSpc>
              <a:buFont typeface="Arial"/>
              <a:buChar char="•"/>
            </a:pPr>
            <a:r>
              <a:rPr lang="en-US" sz="32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Enable integration with visualization tools such as Power BI or Tableau.</a:t>
            </a:r>
          </a:p>
          <a:p>
            <a:pPr algn="l">
              <a:lnSpc>
                <a:spcPts val="3184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724364" y="7101135"/>
            <a:ext cx="2783900" cy="2785447"/>
          </a:xfrm>
          <a:custGeom>
            <a:avLst/>
            <a:gdLst/>
            <a:ahLst/>
            <a:cxnLst/>
            <a:rect r="r" b="b" t="t" l="l"/>
            <a:pathLst>
              <a:path h="2785447" w="2783900">
                <a:moveTo>
                  <a:pt x="0" y="0"/>
                </a:moveTo>
                <a:lnTo>
                  <a:pt x="2783900" y="0"/>
                </a:lnTo>
                <a:lnTo>
                  <a:pt x="2783900" y="2785447"/>
                </a:lnTo>
                <a:lnTo>
                  <a:pt x="0" y="2785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99551" y="324180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Future Enhancement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5450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0"/>
                  </a:srgbClr>
                </a:gs>
                <a:gs pos="33333">
                  <a:srgbClr val="112C16">
                    <a:alpha val="100000"/>
                  </a:srgbClr>
                </a:gs>
                <a:gs pos="66667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5584" y="6065055"/>
            <a:ext cx="677836" cy="6778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0E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76536" y="3224591"/>
            <a:ext cx="3819819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1F0E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&amp; Automation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6417" y="1832701"/>
            <a:ext cx="13750935" cy="8454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5"/>
              </a:lnSpc>
            </a:pPr>
            <a:r>
              <a:rPr lang="en-US" sz="4032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Cloud Deployment</a:t>
            </a:r>
          </a:p>
          <a:p>
            <a:pPr algn="l" marL="676299" indent="-338150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Depl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oy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the platform on AWS, Microsoft Azure, or Goo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gl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Cloud Platform (GCP).</a:t>
            </a:r>
          </a:p>
          <a:p>
            <a:pPr algn="l" marL="676299" indent="-338150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 system availability, scalability, and reliability.</a:t>
            </a:r>
          </a:p>
          <a:p>
            <a:pPr algn="l" marL="676299" indent="-338150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Enable automatic scaling to handle increasing numbers of users and real-time even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ts.</a:t>
            </a:r>
          </a:p>
          <a:p>
            <a:pPr algn="l" marL="676299" indent="-338150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 secu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re, globally accessible services with managed cloud infras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tructure.</a:t>
            </a:r>
          </a:p>
          <a:p>
            <a:pPr algn="l">
              <a:lnSpc>
                <a:spcPts val="5645"/>
              </a:lnSpc>
              <a:spcBef>
                <a:spcPct val="0"/>
              </a:spcBef>
            </a:pPr>
            <a:r>
              <a:rPr lang="en-US" sz="40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b="true" sz="4032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Docker &amp; Kubernetes</a:t>
            </a:r>
          </a:p>
          <a:p>
            <a:pPr algn="l" marL="676299" indent="-338150" lvl="1">
              <a:lnSpc>
                <a:spcPts val="4385"/>
              </a:lnSpc>
              <a:buFont typeface="Arial"/>
              <a:buChar char="•"/>
            </a:pP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ntain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erize all application co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mponents using Docker.</a:t>
            </a:r>
          </a:p>
          <a:p>
            <a:pPr algn="l" marL="676299" indent="-338150" lvl="1">
              <a:lnSpc>
                <a:spcPts val="4385"/>
              </a:lnSpc>
              <a:buFont typeface="Arial"/>
              <a:buChar char="•"/>
            </a:pP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rchestrate containers with Kubern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etes for</a:t>
            </a: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simplified deployment and management.</a:t>
            </a:r>
          </a:p>
          <a:p>
            <a:pPr algn="l" marL="676299" indent="-338150" lvl="1">
              <a:lnSpc>
                <a:spcPts val="4385"/>
              </a:lnSpc>
              <a:buFont typeface="Arial"/>
              <a:buChar char="•"/>
            </a:pP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Support automatic scaling, load balancing, and high availability.</a:t>
            </a:r>
          </a:p>
          <a:p>
            <a:pPr algn="l" marL="676299" indent="-338150" lvl="1">
              <a:lnSpc>
                <a:spcPts val="4385"/>
              </a:lnSpc>
              <a:buFont typeface="Arial"/>
              <a:buChar char="•"/>
            </a:pPr>
            <a:r>
              <a:rPr lang="en-US" sz="31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Simplify updates and maintenance through containerized deployments.</a:t>
            </a:r>
          </a:p>
          <a:p>
            <a:pPr algn="l">
              <a:lnSpc>
                <a:spcPts val="3184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421175" y="7434183"/>
            <a:ext cx="4599423" cy="2584039"/>
          </a:xfrm>
          <a:custGeom>
            <a:avLst/>
            <a:gdLst/>
            <a:ahLst/>
            <a:cxnLst/>
            <a:rect r="r" b="b" t="t" l="l"/>
            <a:pathLst>
              <a:path h="2584039" w="4599423">
                <a:moveTo>
                  <a:pt x="0" y="0"/>
                </a:moveTo>
                <a:lnTo>
                  <a:pt x="4599423" y="0"/>
                </a:lnTo>
                <a:lnTo>
                  <a:pt x="4599423" y="2584039"/>
                </a:lnTo>
                <a:lnTo>
                  <a:pt x="0" y="2584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84498" y="1958951"/>
            <a:ext cx="4272777" cy="4445022"/>
          </a:xfrm>
          <a:custGeom>
            <a:avLst/>
            <a:gdLst/>
            <a:ahLst/>
            <a:cxnLst/>
            <a:rect r="r" b="b" t="t" l="l"/>
            <a:pathLst>
              <a:path h="4445022" w="4272777">
                <a:moveTo>
                  <a:pt x="0" y="0"/>
                </a:moveTo>
                <a:lnTo>
                  <a:pt x="4272777" y="0"/>
                </a:lnTo>
                <a:lnTo>
                  <a:pt x="4272777" y="4445022"/>
                </a:lnTo>
                <a:lnTo>
                  <a:pt x="0" y="4445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99551" y="324180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Future Enhancement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5450"/>
            <a:ext cx="16230600" cy="1216000"/>
            <a:chOff x="0" y="0"/>
            <a:chExt cx="4274726" cy="320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0263"/>
            </a:xfrm>
            <a:custGeom>
              <a:avLst/>
              <a:gdLst/>
              <a:ahLst/>
              <a:cxnLst/>
              <a:rect r="r" b="b" t="t" l="l"/>
              <a:pathLst>
                <a:path h="320263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306430"/>
                  </a:lnTo>
                  <a:cubicBezTo>
                    <a:pt x="4274726" y="310099"/>
                    <a:pt x="4273269" y="313618"/>
                    <a:pt x="4270674" y="316212"/>
                  </a:cubicBezTo>
                  <a:cubicBezTo>
                    <a:pt x="4268080" y="318806"/>
                    <a:pt x="4264562" y="320263"/>
                    <a:pt x="4260893" y="320263"/>
                  </a:cubicBezTo>
                  <a:lnTo>
                    <a:pt x="13833" y="320263"/>
                  </a:lnTo>
                  <a:cubicBezTo>
                    <a:pt x="6193" y="320263"/>
                    <a:pt x="0" y="314070"/>
                    <a:pt x="0" y="306430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2C16">
                    <a:alpha val="0"/>
                  </a:srgbClr>
                </a:gs>
                <a:gs pos="33333">
                  <a:srgbClr val="112C16">
                    <a:alpha val="100000"/>
                  </a:srgbClr>
                </a:gs>
                <a:gs pos="66667">
                  <a:srgbClr val="112C16">
                    <a:alpha val="100000"/>
                  </a:srgbClr>
                </a:gs>
                <a:gs pos="100000">
                  <a:srgbClr val="112C1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5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5584" y="6065055"/>
            <a:ext cx="677836" cy="6778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0E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76536" y="3224591"/>
            <a:ext cx="3819819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1F0E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&amp; Automation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5628" y="952500"/>
            <a:ext cx="13750935" cy="837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5"/>
              </a:lnSpc>
            </a:pPr>
          </a:p>
          <a:p>
            <a:pPr algn="l">
              <a:lnSpc>
                <a:spcPts val="4805"/>
              </a:lnSpc>
            </a:pPr>
          </a:p>
          <a:p>
            <a:pPr algn="l">
              <a:lnSpc>
                <a:spcPts val="5925"/>
              </a:lnSpc>
            </a:pPr>
            <a:r>
              <a:rPr lang="en-US" sz="4232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 &amp; Automation</a:t>
            </a:r>
          </a:p>
          <a:p>
            <a:pPr algn="l" marL="741068" indent="-370534" lvl="1">
              <a:lnSpc>
                <a:spcPts val="4805"/>
              </a:lnSpc>
              <a:spcBef>
                <a:spcPct val="0"/>
              </a:spcBef>
              <a:buFont typeface="Arial"/>
              <a:buChar char="•"/>
            </a:pP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Integrate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Machine Learning models for int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ellig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 product recommendations.</a:t>
            </a:r>
          </a:p>
          <a:p>
            <a:pPr algn="l" marL="741068" indent="-370534" lvl="1">
              <a:lnSpc>
                <a:spcPts val="4805"/>
              </a:lnSpc>
              <a:spcBef>
                <a:spcPct val="0"/>
              </a:spcBef>
              <a:buFont typeface="Arial"/>
              <a:buChar char="•"/>
            </a:pP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redict customer behavior and purchasing trends using AI.</a:t>
            </a:r>
          </a:p>
          <a:p>
            <a:pPr algn="l" marL="741068" indent="-370534" lvl="1">
              <a:lnSpc>
                <a:spcPts val="4805"/>
              </a:lnSpc>
              <a:spcBef>
                <a:spcPct val="0"/>
              </a:spcBef>
              <a:buFont typeface="Arial"/>
              <a:buChar char="•"/>
            </a:pP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nalyze customer reviews with NLP for sentiment analysi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s.</a:t>
            </a:r>
          </a:p>
          <a:p>
            <a:pPr algn="l" marL="741068" indent="-370534" lvl="1">
              <a:lnSpc>
                <a:spcPts val="4805"/>
              </a:lnSpc>
              <a:spcBef>
                <a:spcPct val="0"/>
              </a:spcBef>
              <a:buFont typeface="Arial"/>
              <a:buChar char="•"/>
            </a:pP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Detect f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raudulent or abnormal activities through AI-bas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 an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omaly detection.</a:t>
            </a:r>
          </a:p>
          <a:p>
            <a:pPr algn="l" marL="741068" indent="-370534" lvl="1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ntinuous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ly retrain AI 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models using r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eal-time customer behavior data.</a:t>
            </a:r>
          </a:p>
          <a:p>
            <a:pPr algn="l" marL="741068" indent="-370534" lvl="1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eliver</a:t>
            </a:r>
            <a:r>
              <a:rPr lang="en-US" sz="34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personalized recommendations and automated business insights in real time.</a:t>
            </a:r>
          </a:p>
          <a:p>
            <a:pPr algn="l">
              <a:lnSpc>
                <a:spcPts val="2344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923962" y="51435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99551" y="324180"/>
            <a:ext cx="1268889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1F0E7"/>
                </a:solidFill>
                <a:latin typeface="Anton"/>
                <a:ea typeface="Anton"/>
                <a:cs typeface="Anton"/>
                <a:sym typeface="Anton"/>
              </a:rPr>
              <a:t>Future Enhancement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23167" y="7887828"/>
            <a:ext cx="22364399" cy="2969544"/>
            <a:chOff x="0" y="0"/>
            <a:chExt cx="5890212" cy="782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0212" cy="782102"/>
            </a:xfrm>
            <a:custGeom>
              <a:avLst/>
              <a:gdLst/>
              <a:ahLst/>
              <a:cxnLst/>
              <a:rect r="r" b="b" t="t" l="l"/>
              <a:pathLst>
                <a:path h="782102" w="5890212">
                  <a:moveTo>
                    <a:pt x="0" y="0"/>
                  </a:moveTo>
                  <a:lnTo>
                    <a:pt x="5890212" y="0"/>
                  </a:lnTo>
                  <a:lnTo>
                    <a:pt x="5890212" y="782102"/>
                  </a:lnTo>
                  <a:lnTo>
                    <a:pt x="0" y="782102"/>
                  </a:lnTo>
                  <a:close/>
                </a:path>
              </a:pathLst>
            </a:custGeom>
            <a:solidFill>
              <a:srgbClr val="112C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890212" cy="839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6023" y="697155"/>
            <a:ext cx="823367" cy="823367"/>
          </a:xfrm>
          <a:custGeom>
            <a:avLst/>
            <a:gdLst/>
            <a:ahLst/>
            <a:cxnLst/>
            <a:rect r="r" b="b" t="t" l="l"/>
            <a:pathLst>
              <a:path h="823367" w="823367">
                <a:moveTo>
                  <a:pt x="0" y="0"/>
                </a:moveTo>
                <a:lnTo>
                  <a:pt x="823368" y="0"/>
                </a:lnTo>
                <a:lnTo>
                  <a:pt x="823368" y="823367"/>
                </a:lnTo>
                <a:lnTo>
                  <a:pt x="0" y="823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383000" y="-20076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619174"/>
            <a:ext cx="14846650" cy="362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04"/>
              </a:lnSpc>
              <a:spcBef>
                <a:spcPct val="0"/>
              </a:spcBef>
            </a:pPr>
            <a:r>
              <a:rPr lang="en-US" sz="21145">
                <a:solidFill>
                  <a:srgbClr val="112C16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51635" y="5761515"/>
            <a:ext cx="11507665" cy="58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1"/>
              </a:lnSpc>
              <a:spcBef>
                <a:spcPct val="0"/>
              </a:spcBef>
            </a:pPr>
            <a:r>
              <a:rPr lang="en-US" sz="3429" spc="123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DAHO17I0p5E</dc:identifier>
  <dcterms:modified xsi:type="dcterms:W3CDTF">2011-08-01T06:04:30Z</dcterms:modified>
  <cp:revision>1</cp:revision>
  <dc:title>Green and Cream Modern Data Analyst Presentation</dc:title>
</cp:coreProperties>
</file>